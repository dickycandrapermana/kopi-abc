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Consolas"/>
              </a:defRPr>
            </a:pPr>
            <a:r>
              <a:t>WEB DEVELOPMENT WORKSHOP // DASAR PEMROGRAMAN WEB</a:t>
            </a:r>
          </a:p>
          <a:p>
            <a:pPr>
              <a:defRPr sz="3800" b="1">
                <a:solidFill>
                  <a:srgbClr val="0F172A"/>
                </a:solidFill>
                <a:latin typeface="Segoe UI"/>
              </a:defRPr>
            </a:pPr>
            <a:r>
              <a:t>HTML5 Fundamentals:</a:t>
            </a:r>
          </a:p>
          <a:p>
            <a:pPr>
              <a:spcAft>
                <a:spcPts val="2000"/>
              </a:spcAft>
              <a:defRPr sz="3200" b="1">
                <a:solidFill>
                  <a:srgbClr val="4F46E5"/>
                </a:solidFill>
                <a:latin typeface="Segoe UI"/>
              </a:defRPr>
            </a:pPr>
            <a:r>
              <a:t>Fondasi Anatomi &amp; Struktur Web Modern</a:t>
            </a:r>
          </a:p>
          <a:p>
            <a:pPr>
              <a:spcAft>
                <a:spcPts val="2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Panduan lengkap memahami sintaks, semantik dokumen, penataan konten, hingga formulir interaktif tanpa kebingungan.</a:t>
            </a:r>
          </a:p>
          <a:p>
            <a:pPr>
              <a:defRPr sz="1100" b="1">
                <a:solidFill>
                  <a:srgbClr val="0D9488"/>
                </a:solidFill>
                <a:latin typeface="Consolas"/>
              </a:defRPr>
            </a:pPr>
            <a:r>
              <a:t>Target Pembelajaran: Dari Nol hingga Siap Membangun Struktur Halaman Web Nyata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MODUL 01 // PENGENALAN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Apa Sebenarnya HTML Itu?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Memahami peran esensial HTML di balik setiap halaman web di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3832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92608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  <a:latin typeface="Consolas"/>
              </a:defRPr>
            </a:pPr>
            <a:r>
              <a:t>PONDASI UTAMA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Kerangka (HTML)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HyperText Markup Language: Bahasa markah standar untuk menstrukturkan halaman web.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Analogi: Struktur tulang pada tubuh manusia atau dinding &amp; rangka bata pada rumah.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Menentukan mana judul, paragraf, gambar, tombol, dan formulir.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HTML fokus pada MAKNANYA (Semantik), bukan pada keindahannya.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832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21408"/>
            <a:ext cx="292608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F46E5"/>
                </a:solidFill>
                <a:latin typeface="Consolas"/>
              </a:defRPr>
            </a:pPr>
            <a:r>
              <a:t>GAYA &amp; ESTETIKA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Tampilan (CSS)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Cascading Style Sheets: Bertanggung jawab atas estetika dan tata letak.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Analogi: Pakaian, riasan wajah, warna cat dinding, dan dekorasi ruangan.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Mengatur warna, ukuran font, spasi, animasi, dan tampilan responsif mobile.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CSS membutuhkan kerangka HTML yang kokoh agar tidak runtuh.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3832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121408"/>
            <a:ext cx="292608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  <a:latin typeface="Consolas"/>
              </a:defRPr>
            </a:pPr>
            <a:r>
              <a:t>PERILAKU &amp; LOGIKA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3. Interaktivitas (JS)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JavaScript: Bahasa logika pemrograman yang berjalan di sisi browser klien.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Analogi: Otot, sistem saraf gerak, dan sakelar listrik otomatis.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Menangani klik tombol dinamis, validasi formulir instan, dan pengambilan data API.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HTML + CSS + JS = Trinitas teknologi inti web modern.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MODUL 02 // SINTAKS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Anatomi Satu Elemen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Membedah setiap bagian pembentuk tag HTML secara mendetail.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  <a:latin typeface="Consolas"/>
              </a:defRPr>
            </a:pPr>
            <a:r>
              <a:t>BEDAH SINTAKS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Komponen Utama Elemen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Tag Pembuka (&lt;tag&gt;): Menandai awal dari sebuah elemen di dalam dokumen.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Atribut (Attribute): Memberikan informasi tambahan atau konfigurasi (misal: class, id, href).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Nilai Atribut (Value): Ditulis di dalam tanda petik dua (misal: href="https://...").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Konten (Content): Teks atau elemen bersarang yang berada di antara kedua tag.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Tag Penutup (&lt;/tag&gt;): Menandai batas akhir elemen dengan garis miring.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Elemen Void (Self-closing): Elemen tanpa tag penutup seperti &lt;img&gt;, &lt;input&gt;, &lt;br&gt;, &lt;hr&gt;.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530352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8463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38BDF8"/>
                </a:solidFill>
                <a:latin typeface="Consolas"/>
              </a:defRPr>
            </a:pPr>
            <a:r>
              <a:t>CONTOH SINTAKS  |  Contoh Nyata Elemen HTML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&lt;!-- 1. Elemen Standar dengan Konten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&lt;a href="https://example.com" target="_blank"&gt;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Kunjungi Website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&lt;/a&gt;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&lt;!-- 2. Elemen Paragraf Berisi Penekanan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&lt;p class="deskripsi"&gt;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Belajar HTML itu &lt;strong&gt;sangat seru&lt;/strong&gt;!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&lt;/p&gt;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&lt;!-- 3. Elemen Mandiri (Void Element)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&lt;img src="kopi.jpg" alt="Secangkir Kopi Hangat" width="300"&gt;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&lt;input type="text" placeholder="Ketik nama Anda..."&gt;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MODUL 03 // BOILERPLATE RESMI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Rangka Dokumen Standar HTML5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Struktur template wajib yang harus dimiliki oleh setiap file .html.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48640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5029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38BDF8"/>
                </a:solidFill>
                <a:latin typeface="Consolas"/>
              </a:defRPr>
            </a:pPr>
            <a:r>
              <a:t>BOILERPLATE WAJIB  |  Boilerplate HTML5 Lengkap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&lt;!DOCTYPE html&gt;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&lt;html lang="id"&gt;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&lt;head&gt;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&lt;meta charset="UTF-8"&gt;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&lt;meta name="viewport" content="width=device-width, initial-scale=1.0"&gt;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&lt;title&gt;Kedai Kopi Nusantara&lt;/title&gt;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&lt;link rel="stylesheet" href="style.css"&gt;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&lt;/head&gt;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&lt;body&gt;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&lt;h1&gt;Selamat Datang di Kedai Kopi&lt;/h1&gt;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&lt;p&gt;Tempat nongkrong santai penikmat kopi.&lt;/p&gt;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&lt;/body&gt;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&lt;/html&gt;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49377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121408"/>
            <a:ext cx="448056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Consolas"/>
              </a:defRPr>
            </a:pPr>
            <a:r>
              <a:t>PENJELASAN ELEMEN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Fungsi Tiap Baris Kode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&lt;!DOCTYPE html&gt;: Menginstruksikan browser agar me-render halaman dengan standar HTML5 modern.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&lt;html lang="id"&gt;: Elemen induk (root) penampung seluruh kode; atribut lang membantu SEO &amp; screen reader.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&lt;head&gt;: 'Ruang Mesin' — menyimpan metadata, judul tab, tautan CSS, dan konfigurasi viewport mobile.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&lt;meta charset="UTF-8"&gt;: Menjamin karakter huruf, aksara, dan emoji ter-render tanpa karakter rusak.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&lt;body&gt;: 'Panggung Utama' — HANYA elemen di dalam body yang akan tampil di layar pengguna!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MODUL 04 // KONTEN TEKS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Hierarki Judul &amp; Pemformatan Teks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Menata tingkat kepentingan informasi agar mudah dipindai oleh manusia dan Google.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  <a:latin typeface="Consolas"/>
              </a:defRPr>
            </a:pPr>
            <a:r>
              <a:t>STRUKTUR HEADING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Hierarki Heading (h1 s/d h6)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Aturan Emas: Hanya gunakan SATU buah tag &lt;h1&gt; per halaman untuk judul topik utama.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Gunakan &lt;h2&gt; untuk sub-bagian besar, dan &lt;h3&gt; untuk sub-topik di dalamnya.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JANGAN melompati level: Jangan langsung lompat dari &lt;h1&gt; ke &lt;h3&gt; hanya karena ingin font lebih kecil.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Ukuran font adalah urusan CSS! Gunakan tag heading berdasarkan bobot hierarki maknanya.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Search engine mengandalkan heading untuk memahami topik pembahasan halaman web 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530352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8463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38BDF8"/>
                </a:solidFill>
                <a:latin typeface="Consolas"/>
              </a:defRPr>
            </a:pPr>
            <a:r>
              <a:t>CONTOH PENULISAN  |  Implementasi Tag Teks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Judul Utama Halaman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&lt;h1&gt;Katalog Menu Kopi Pagi&lt;/h1&gt;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Sub-bagian Topik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&lt;h2&gt;Menu Signature Espresso&lt;/h2&gt;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&lt;h3&gt;1. Kopi Susu Aren Spesial&lt;/h3&gt;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Paragraf dan Penekanan Makna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&lt;p&gt;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Diseduh dari biji kopi &lt;strong&gt;Arabika Gayo Asli&lt;/strong&gt;,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memberikan aroma yang &lt;em&gt;sangat harum&lt;/em&gt; dan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rasa yang &lt;mark&gt;manis seimbang&lt;/mark&gt;.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&lt;/p&gt;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MODUL 05 // MEDIA &amp; NAVIGASI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Menyematkan Gambar &amp; Tautan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Dua elemen terpenting yang menjadikan web hidup dan saling terhubung.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D9488"/>
                </a:solidFill>
                <a:latin typeface="Consolas"/>
              </a:defRPr>
            </a:pPr>
            <a:r>
              <a:t>PRAKTIK TERBAIK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Kaidah Tag &lt;img&gt; dan &lt;a&gt;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Tag &lt;a&gt; (Hyperlink): Menghubungkan pengguna ke halaman lain, file dokumen, atau nomor telepon.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Atribut href: Menyimpan alamat URL tujuan tautan.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target="_blank": Membuka tautan di tab baru (wajib sertakan rel="noopener noreferrer" demi keamanan).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Tag &lt;img&gt;: Menampilkan gambar grafis atau foto.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Atribut alt (WAJIB): Teks deskripsi gambar untuk tuna netra (screen reader) dan cadangan bila koneksi lemot.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Atribut width &amp; height: Menghindari layar meloncat (Cumulative Layout Shift) saat gambar termuat.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530352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8463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38BDF8"/>
                </a:solidFill>
                <a:latin typeface="Consolas"/>
              </a:defRPr>
            </a:pPr>
            <a:r>
              <a:t>CONTOH NYATA  |  Sintaks Gambar &amp; Tautan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&lt;!-- 1. Tautan Keluar (Tab Baru)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&lt;a href="https://instagram.com/kedaikopi" target="_blank"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rel="noopener noreferrer"&gt;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Ikuti Instagram Kami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&lt;/a&gt;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&lt;!-- 2. Gambar Responsif Ber-Alt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&lt;img src="images/latte-art.webp"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alt="Cangkir kopi latte dengan motif daun"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width="400" height="300"&gt;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&lt;!-- 3. Gambar yang Bisa Diklik Sebagai Link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&lt;a href="menu.html"&gt;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&lt;img src="banner-promo.jpg" alt="Lihat Promo Hari Ini"&gt;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&lt;/a&gt;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MODUL 06 // PENGELOMPOKAN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Daftar (List) &amp; Tabel Data (Table)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Menyajikan data informasi secara rapi, teratur, dan mudah dipahami pengguna.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F46E5"/>
                </a:solidFill>
                <a:latin typeface="Consolas"/>
              </a:defRPr>
            </a:pPr>
            <a:r>
              <a:t>KAIDAH DATA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Penggunaan List &amp; Table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Unordered List (&lt;ul&gt;): Untuk daftar item tanpa urutan prioritas tertentu (bullet points).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Ordered List (&lt;ol&gt;): Untuk langkah berurutan, tutorial, atau ranking angka (1, 2, 3...).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List Item (&lt;li&gt;): Setiap butir item wajib dibungkus di dalam tag &lt;li&gt;.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Tabel Tabular (&lt;table&gt;): HANYA untuk menampilkan data matriks baris dan kolom (harga, jadwal, keuangan).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Struktur Tabel Bersih: &lt;thead&gt; untuk judul kolom, &lt;tbody&gt; untuk data baris (&lt;tr&gt;) dan sel (&lt;td&gt;/&lt;th&gt;).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Peringatan: JANGAN pernah menggunakan tabel untuk mengatur tata letak/layout halaman!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530352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8463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38BDF8"/>
                </a:solidFill>
                <a:latin typeface="Consolas"/>
              </a:defRPr>
            </a:pPr>
            <a:r>
              <a:t>MARKUP LIST &amp; TABLE  |  Contoh List &amp; Tabel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Daftar Fitur (Unordered)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&lt;ul&gt;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&lt;li&gt;Free Wi-Fi Kecepatan Tinggi&lt;/li&gt;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&lt;li&gt;Colokan Listrik di Setiap Meja&lt;/li&gt;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&lt;/ul&gt;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Tabel Menu &amp; Harga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&lt;table border="1"&gt;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&lt;thead&gt;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&lt;tr&gt;&lt;th&gt;Menu&lt;/th&gt;&lt;th&gt;Harga&lt;/th&gt;&lt;/tr&gt;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&lt;/thead&gt;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&lt;tbody&gt;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&lt;tr&gt;&lt;td&gt;Americano&lt;/td&gt;&lt;td&gt;Rp 22.000&lt;/td&gt;&lt;/tr&gt;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&lt;tr&gt;&lt;td&gt;Cappuccino&lt;/td&gt;&lt;td&gt;Rp 28.000&lt;/td&gt;&lt;/tr&gt;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&lt;/tbody&gt;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&lt;/table&gt;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MODUL 07 // SEMANTIK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Semantic HTML vs 'Div Soup'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Tinggalkan kebiasaan membungkus semua elemen dengan tag &lt;div&gt; tanpa makna.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Consolas"/>
              </a:defRPr>
            </a:pPr>
            <a:r>
              <a:t>ELEMEN SEMANTIK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Landmark Semantik W3C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&lt;header&gt;: Bagian kepala halaman atau pengantar artikel.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&lt;nav&gt;: Kumpulan navigasi menu utama situs.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&lt;main&gt;: Area konten sentral utama (hanya boleh satu per halaman).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&lt;section&gt;: Pembagian kelompok konten yang memiliki tema tertentu.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&lt;article&gt;: Konten mandiri yang bisa berdiri sendiri (berita, kartu produk).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&lt;aside&gt;: Konten pendukung di bilah samping (sidebar, rekomendasi).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&lt;footer&gt;: Catatan kaki, informasi copyright, dan link legalitas.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Manfaat: SEO jauh lebih tinggi, aksesibilitas screen reader, dan kode mudah dirawat.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530352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8463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38BDF8"/>
                </a:solidFill>
                <a:latin typeface="Consolas"/>
              </a:defRPr>
            </a:pPr>
            <a:r>
              <a:t>BEST PRACTICE  |  Perbandingan Struktur Semantik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HINDARI: Div Soup (Tanpa Makna)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&lt;div class="header"&gt;&lt;div class="menu"&gt;...&lt;/div&gt;&lt;/div&gt;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&lt;div class="content"&gt;&lt;div class="post"&gt;...&lt;/div&gt;&lt;/div&gt;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&lt;!-- GUNAKAN: Semantic HTML5 (Bersih &amp; Baku)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&lt;header&gt;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&lt;nav&gt;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&lt;a href="#home"&gt;Beranda&lt;/a&gt; | &lt;a href="#menu"&gt;Menu&lt;/a&gt;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&lt;/nav&gt;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&lt;/header&gt;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&lt;main&gt;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&lt;article&gt;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&lt;h2&gt;Cerita Roasting Kopi Kami&lt;/h2&gt;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&lt;p&gt;Dipanggang segar setiap pagi...&lt;/p&gt;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&lt;/article&gt;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&lt;/main&gt;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&lt;footer&gt;&lt;small&gt;&amp;copy; 2026 Kedai Kopi&lt;/small&gt;&lt;/footer&gt;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MODUL 08 // FORMULIR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Formulir Interaktif &amp; Input Pengguna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Mengumpulkan masukan, registrasi pengguna, dan transaksi dari pengunjung.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  <a:latin typeface="Consolas"/>
              </a:defRPr>
            </a:pPr>
            <a:r>
              <a:t>KOMPONEN FORM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Komponen Formulir Wajib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Tag &lt;form&gt;: Wadah yang membungkus seluruh kontrol input data.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Atribut action &amp; method: Menentukan ke mana data dikirim dan metodenya (GET/POST).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Tag &lt;label for="id"&gt;: Pasangan WAJIB untuk setiap input agar teks dapat diklik dan ramah difabel.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Tipe-Tipe Input: text, email, password, number, date, radio, checkbox.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Tag &lt;select&gt; &amp; &lt;option&gt;: Membuat menu pilihan dropdown.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Tag &lt;textarea&gt;: Kolom input teks panjang (catatan/pesan).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Tombol &lt;button type="submit"&gt;: Pemicu pengiriman data formulir.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530352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8463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38BDF8"/>
                </a:solidFill>
                <a:latin typeface="Consolas"/>
              </a:defRPr>
            </a:pPr>
            <a:r>
              <a:t>KODE FORMULIR  |  Contoh Formulir Reservasi Meja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&lt;form action="/reservasi" method="POST"&gt;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&lt;!-- Label terhubung langsung via atribut for &amp; id --&gt;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&lt;label for="nama"&gt;Nama Lengkap:&lt;/label&gt;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&lt;input type="text" id="nama" name="nama" required&gt;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&lt;label for="area"&gt;Pilihan Area:&lt;/label&gt;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&lt;select id="area" name="area"&gt;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&lt;option value="indoor"&gt;Indoor Bebas Asap (AC)&lt;/option&gt;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&lt;option value="outdoor"&gt;Outdoor Smoking Area&lt;/option&gt;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&lt;/select&gt;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&lt;label for="catatan"&gt;Catatan Tambahan:&lt;/label&gt;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&lt;textarea id="catatan" name="catatan" rows="3"&gt;&lt;/textarea&gt;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&lt;button type="submit"&gt;Kirim Reservasi&lt;/button&gt;</a:t>
            </a:r>
          </a:p>
          <a:p>
            <a:pPr>
              <a:spcAft>
                <a:spcPts val="3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&lt;/form&gt;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Consolas"/>
              </a:defRPr>
            </a:pPr>
            <a:r>
              <a:t>MODUL 09 // AUDIT &amp;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5 Jebakan Umum Pemula (Beginner Gotchas)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Kesalahan klasik yang sering membuat frustrasi saat pertama kali belajar HTML.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0116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6459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E11D48"/>
                </a:solidFill>
                <a:latin typeface="Consolas"/>
              </a:defRPr>
            </a:pPr>
            <a:r>
              <a:t>JEBAKAN 1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Lupa Tag Penutup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Tidak menutup tag &lt;div&gt; atau &lt;a&gt; sehingga elemen berikutnya tertelan dan layout halaman hancur berantakan.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920240"/>
            <a:ext cx="20116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103120"/>
            <a:ext cx="16459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  <a:latin typeface="Consolas"/>
              </a:defRPr>
            </a:pPr>
            <a:r>
              <a:t>JEBAKAN 2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Mengabaikan Atribut alt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Memasang tag &lt;img&gt; tanpa alt deskriptif. Gambar gagal dibaca screen reader dan skor SEO anjlok.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920240"/>
            <a:ext cx="20116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2103120"/>
            <a:ext cx="16459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E11D48"/>
                </a:solidFill>
                <a:latin typeface="Consolas"/>
              </a:defRPr>
            </a:pPr>
            <a:r>
              <a:t>JEBAKAN 3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Pakai Tag Usang (Deprecated)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Masih memakai tag usang seperti &lt;font&gt;, &lt;center&gt;, atau &lt;marquee&gt;. Hindari total, gunakan CSS modern!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920240"/>
            <a:ext cx="20116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2103120"/>
            <a:ext cx="16459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  <a:latin typeface="Consolas"/>
              </a:defRPr>
            </a:pPr>
            <a:r>
              <a:t>JEBAKAN 4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4. Spam Tag &lt;br&gt;&lt;br&gt; Demi Spasi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Menggunakan barisan tag &lt;br&gt; untuk memberi jarak antar paragraf/elemen alih-alih memakai margin CSS.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920240"/>
            <a:ext cx="20116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2103120"/>
            <a:ext cx="16459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E11D48"/>
                </a:solidFill>
                <a:latin typeface="Consolas"/>
              </a:defRPr>
            </a:pPr>
            <a:r>
              <a:t>JEBAKAN 5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5. Merusak Hierarki Heading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Memilih tag heading (h1-h6) semata-mata demi ukuran font, bukan karena urutan kepentingan hierarki dokumen.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72865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MODUL 10 // TANTANGAN PRAKTIKUM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Tantangan Mini-Project &amp; Langkah Selanjutnya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Saatnya mempraktikkan teori menjadi kode nyata yang dapat dijalankan di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Consolas"/>
              </a:defRPr>
            </a:pPr>
            <a:r>
              <a:t>PROYEK NYATA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Tugas: Halaman Landing Kedai Kopi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1. Buat file baru index.html dengan boilerplate HTML5 lengkap.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2. Buat &lt;header&gt; dengan nama kedai dalam &lt;h1&gt; dan menu navigasi (&lt;nav&gt;).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3. Tambahkan &lt;main&gt; berisi &lt;article&gt; cerita kedai dan foto ber-alt.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4. Tampilkan tabel daftar menu &amp; harga menggunakan &lt;table&gt; standar.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5. Bangun formulir reservasi meja (&lt;form&gt;) dengan minimal 3 jenis input.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6. Tutup dengan &lt;footer&gt; berisi hak cipta dan tautan media sosial.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Goal: Halaman terstruktur sempurna dan bebas dari error validasi W3C!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53035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21408"/>
            <a:ext cx="4846320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  <a:latin typeface="Consolas"/>
              </a:defRPr>
            </a:pPr>
            <a:r>
              <a:t>ROADMAP KEDEPAN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Langkah Perjalanan Berikutnya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• CSS Fundamentals: Menghias warna, font, dan spacing pada halaman ini.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• CSS Box Model: Memahami content, padding, border, dan margin.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• Flexbox &amp; Grid: Mengatur tata letak modern agar tidak kaku.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• Responsive Web Design: Memastikan web nyaman dibuka di layar HP.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• Git &amp; GitHub: Menyimpan riwayat kode dan mempublikasikannya online.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 Kunci Sukses: Jangan sekadar membaca kode — buka text editor, ketik sendiri tag-nya, dan lihat hasilnya langsung di browser!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